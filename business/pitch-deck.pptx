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159" y="1417737"/>
            <a:ext cx="803168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50"/>
              </a:lnSpc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procurement tool in the world runs in the cloud.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56159" y="2624138"/>
            <a:ext cx="80316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 municipalities are legally prohibited from using cloud tools for procurement data.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6159" y="3468588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 municipalities · €4.7M annual market · Zero compliant solutions.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829066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Bef>
                <a:spcPts val="1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procurement managers make million-euro decisions from Excel spreadsheets.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551682"/>
            <a:ext cx="8128099" cy="235788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95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teams spend 40% of their time on manual comparison — emails, PDFs, supplier portals</a:t>
            </a:r>
            <a:endParaRPr lang="en-US" sz="1700" dirty="0"/>
          </a:p>
          <a:p>
            <a:pPr algn="l" marL="139700" indent="-139700">
              <a:lnSpc>
                <a:spcPts val="2295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supplier decision is a documentation liability. Most can't be reconstructed if challenged</a:t>
            </a:r>
            <a:endParaRPr lang="en-US" sz="1700" dirty="0"/>
          </a:p>
          <a:p>
            <a:pPr algn="l" marL="139700" indent="-139700">
              <a:lnSpc>
                <a:spcPts val="2295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tools that exist? All cloud-based. Dutch municipalities legally cannot use a single one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829066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Bef>
                <a:spcPts val="1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fine-tuned AI procurement assistant. Runs on your server. Trained on your data.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551682"/>
            <a:ext cx="8128099" cy="148366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95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procurement needs to a ranked, reasoned list of qualified suppliers</a:t>
            </a:r>
            <a:endParaRPr lang="en-US" sz="1700" dirty="0"/>
          </a:p>
          <a:p>
            <a:pPr algn="l" marL="139700" indent="-139700">
              <a:lnSpc>
                <a:spcPts val="2295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 — no data leaves the client's infrastructure, ever</a:t>
            </a:r>
            <a:endParaRPr lang="en-US" sz="1700" dirty="0"/>
          </a:p>
          <a:p>
            <a:pPr algn="l" marL="139700" indent="-139700">
              <a:lnSpc>
                <a:spcPts val="2295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the client's own history — gets more accurate over time, not less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Bef>
                <a:spcPts val="1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steps. One report. Full audit trail.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188541"/>
            <a:ext cx="2675483" cy="3954959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207591"/>
            <a:ext cx="2675483" cy="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1429792"/>
            <a:ext cx="23145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need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4150" y="1775817"/>
            <a:ext cx="231456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· Spec · Quantity · Timeline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34184" y="1188541"/>
            <a:ext cx="2675632" cy="3954959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4184" y="1207591"/>
            <a:ext cx="2675632" cy="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7334" y="1429792"/>
            <a:ext cx="23147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ranks suppliers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37334" y="1775817"/>
            <a:ext cx="231471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· Quality · Lead time · Certification · History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7517" y="1188541"/>
            <a:ext cx="2675483" cy="3954959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87517" y="1207591"/>
            <a:ext cx="2675483" cy="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0667" y="1429792"/>
            <a:ext cx="231456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report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90667" y="1775817"/>
            <a:ext cx="231456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· Certifications · Audit-ready · One click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829066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deployment isn't a feature. For our clients, it's a legal requirement.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409700"/>
            <a:ext cx="4000500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498550"/>
            <a:ext cx="3769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AI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7950" y="2184350"/>
            <a:ext cx="400050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876276"/>
            <a:ext cx="376961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— data leaves the building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7950" y="2586038"/>
            <a:ext cx="400050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350" y="2277963"/>
            <a:ext cx="376961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 for Dutch public sector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950" y="2987725"/>
            <a:ext cx="400050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350" y="2679650"/>
            <a:ext cx="376961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model, same for every client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950" y="3389412"/>
            <a:ext cx="400050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350" y="3081338"/>
            <a:ext cx="376961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switching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5401" y="1409700"/>
            <a:ext cx="4000649" cy="377726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7801" y="1498550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35401" y="2184350"/>
            <a:ext cx="400064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7801" y="1876276"/>
            <a:ext cx="376976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— data never leaves the server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35401" y="2586038"/>
            <a:ext cx="400064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7801" y="2277963"/>
            <a:ext cx="376976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by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35401" y="2987725"/>
            <a:ext cx="400064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7801" y="2679650"/>
            <a:ext cx="376976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per client on their own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35401" y="3603873"/>
            <a:ext cx="400064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7801" y="3081338"/>
            <a:ext cx="3769766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switching cost — institutional memory lives in the model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46050"/>
            <a:ext cx="829066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Bef>
                <a:spcPts val="1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€710M EU opportunity. We're starting where we have an unfair advantage.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551682"/>
            <a:ext cx="2675483" cy="154081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555" y="1831032"/>
            <a:ext cx="23403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€20M/yr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555" y="2367558"/>
            <a:ext cx="234037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addressable market (Segments A + 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34184" y="1551682"/>
            <a:ext cx="2675632" cy="154081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01738" y="1831032"/>
            <a:ext cx="23405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€710M/yr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01738" y="2367558"/>
            <a:ext cx="234052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total addressable market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7517" y="1551682"/>
            <a:ext cx="2675483" cy="154081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5072" y="1831032"/>
            <a:ext cx="23403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5072" y="2367558"/>
            <a:ext cx="234037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local AI procurement solutions in NL today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6669" y="327020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913 construction companies (50+ employees) · 342 municipalities · Uniform regulation · High digital adoption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2060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pay to come in. They don't leave.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950" y="1379339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996851"/>
            <a:ext cx="3764756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72707" y="996851"/>
            <a:ext cx="2181671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54421" y="1085701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co.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54378" y="996851"/>
            <a:ext cx="2181671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6092" y="1085701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950" y="1766590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451" y="1472952"/>
            <a:ext cx="3632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/ fine-tuning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54421" y="1472952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€19,000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6092" y="1472952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€18,000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950" y="2153841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451" y="1860203"/>
            <a:ext cx="3632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subscription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54421" y="1860203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€34,000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6092" y="1860203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€39,000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7950" y="2541091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451" y="2247454"/>
            <a:ext cx="3632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deal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54421" y="2247454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€53,000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6092" y="2247454"/>
            <a:ext cx="20182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€57,000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950" y="2723555"/>
            <a:ext cx="2607766" cy="942677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3128" y="2901255"/>
            <a:ext cx="22974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3128" y="3317081"/>
            <a:ext cx="22974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: CAC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8117" y="2723555"/>
            <a:ext cx="2607766" cy="942677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23294" y="2901255"/>
            <a:ext cx="22974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&lt;12 mo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423294" y="3317081"/>
            <a:ext cx="22974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28283" y="2723555"/>
            <a:ext cx="2607766" cy="942677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83460" y="2901255"/>
            <a:ext cx="22974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83460" y="3317081"/>
            <a:ext cx="22974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churn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2060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in Year 2. €876K ARR by Year 3.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950" y="1379339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996851"/>
            <a:ext cx="2641699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9650" y="996851"/>
            <a:ext cx="1828800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4892" y="1085701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78450" y="996851"/>
            <a:ext cx="1828800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63692" y="1085701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07250" y="996851"/>
            <a:ext cx="1828800" cy="377726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92492" y="1085701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950" y="1766590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451" y="1472952"/>
            <a:ext cx="2487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clients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34892" y="1472952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63692" y="1472952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92492" y="1472952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950" y="2153841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1860203"/>
            <a:ext cx="2487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34892" y="1860203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€180K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63692" y="1860203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€501K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2492" y="1860203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€876K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950" y="2541091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451" y="2247454"/>
            <a:ext cx="2487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34892" y="2247454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€223K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63692" y="2247454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€615K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2492" y="2247454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€1.08M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7950" y="2928342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451" y="2634704"/>
            <a:ext cx="2487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result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34892" y="2634704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-€28K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63692" y="2634704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+€66K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92492" y="2634704"/>
            <a:ext cx="1658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+€358K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7950" y="3085505"/>
            <a:ext cx="8128099" cy="71348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7000" y="3085505"/>
            <a:ext cx="0" cy="713482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550" y="3212455"/>
            <a:ext cx="78631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Non-dilutive grant pipeline: MIT R&amp;D AI (€200K · applying May 26) · KIEM (€40K) · RAAK-PRO (€700K)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6550" y="3476476"/>
            <a:ext cx="786317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R&amp;D grant alone makes Year 1 cash-positive.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95151"/>
            <a:ext cx="829066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anchor. The AI depth. The operations track record. The municipality relationships.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7950" y="1802309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292423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Christiaan Verhoef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517749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30401" y="1292423"/>
            <a:ext cx="6023762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@ Windesheim · Founded AI lab · Co-founded 10 startups · Helped raise €2M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7950" y="2341959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950" y="1883271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Milan Jelisavčić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2108597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30401" y="1883271"/>
            <a:ext cx="602376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AI, VU Amsterdam · Production ML at Stedin, ABN AMRO, bliq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950" y="2881610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950" y="2422922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Kirsten Coppoolse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950" y="2648248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30401" y="2422922"/>
            <a:ext cx="602376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Food Chain · 0 to 20 people · Doubled revenue 6 years straight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950" y="3421261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2962573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Nina Gluhović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950" y="3187898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30401" y="2962573"/>
            <a:ext cx="602376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Civil Engineering · 12 years construction academia · University of Belgrade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950" y="3960912"/>
            <a:ext cx="8128099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3502223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Gerard Tunteler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950" y="3727549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30401" y="3502223"/>
            <a:ext cx="602376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years HPE · Direct relationships across all 342 Dutch municipalities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950" y="4067175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anchors: Windesheim University of Applied Sciences (NL) · University of Belgrade, Faculty of Civil Engineering (RS)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634901" cy="381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20601"/>
            <a:ext cx="829066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 €250K pre-seed to own the NL market before Parspec arrives.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1288852"/>
            <a:ext cx="2692301" cy="151745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307902"/>
            <a:ext cx="2692301" cy="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1290" y="1530102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1290" y="2022128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salaries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1290" y="2260253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from day 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25701" y="1288852"/>
            <a:ext cx="2692450" cy="151745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701" y="1307902"/>
            <a:ext cx="2692450" cy="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5990" y="1530102"/>
            <a:ext cx="23318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05990" y="2022128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5990" y="2260253"/>
            <a:ext cx="2331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· Fine-tuning pipeline · Local stack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70550" y="1288852"/>
            <a:ext cx="2692450" cy="151745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0550" y="1307902"/>
            <a:ext cx="2692450" cy="0"/>
          </a:xfrm>
          <a:prstGeom prst="line">
            <a:avLst/>
          </a:prstGeom>
          <a:noFill/>
          <a:ln w="381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0839" y="1530102"/>
            <a:ext cx="23318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50839" y="2022128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0839" y="2260253"/>
            <a:ext cx="23318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· Pilots · Events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950" y="2958703"/>
            <a:ext cx="8128099" cy="7810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clients in Year 1 (vs. 5 bootstrapped)</a:t>
            </a:r>
            <a:endParaRPr lang="en-US" sz="14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municipality reference client by Q3 2026</a:t>
            </a:r>
            <a:endParaRPr lang="en-US" sz="14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expansion conversation by Year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950" y="3917454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grant track funds Year 1 either way. We want this to move faster than Parspec.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Construction Procurement — Investor Pitch</dc:title>
  <dc:subject>PptxGenJS Presentation</dc:subject>
  <dc:creator>PptxGenJS</dc:creator>
  <cp:lastModifiedBy>PptxGenJS</cp:lastModifiedBy>
  <cp:revision>1</cp:revision>
  <dcterms:created xsi:type="dcterms:W3CDTF">2026-05-08T13:24:55Z</dcterms:created>
  <dcterms:modified xsi:type="dcterms:W3CDTF">2026-05-08T13:24:55Z</dcterms:modified>
</cp:coreProperties>
</file>